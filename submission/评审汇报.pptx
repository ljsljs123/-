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023c90d8d24312" /><Relationship Type="http://schemas.openxmlformats.org/officeDocument/2006/relationships/extended-properties" Target="/docProps/app.xml" Id="Rd0c4c1289e334336" /><Relationship Type="http://schemas.openxmlformats.org/officeDocument/2006/relationships/officeDocument" Target="/ppt/presentation.xml" Id="Rf8e53398393642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b4c8735d37414d"/>
  </p:sldMasterIdLst>
  <p:notesMasterIdLst>
    <p:notesMasterId xmlns:r="http://schemas.openxmlformats.org/officeDocument/2006/relationships" r:id="R20fd6c02d7874e41"/>
  </p:notesMasterIdLst>
  <p:sldIdLst>
    <p:sldId xmlns:r="http://schemas.openxmlformats.org/officeDocument/2006/relationships" id="256" r:id="Rd56cf61c863d40d0"/>
    <p:sldId xmlns:r="http://schemas.openxmlformats.org/officeDocument/2006/relationships" id="257" r:id="Rff49bd3ae38d439e"/>
    <p:sldId xmlns:r="http://schemas.openxmlformats.org/officeDocument/2006/relationships" id="258" r:id="R206ca7254dfa4acd"/>
    <p:sldId xmlns:r="http://schemas.openxmlformats.org/officeDocument/2006/relationships" id="259" r:id="R6323a1015f774227"/>
    <p:sldId xmlns:r="http://schemas.openxmlformats.org/officeDocument/2006/relationships" id="260" r:id="R182243f0aa9640ee"/>
    <p:sldId xmlns:r="http://schemas.openxmlformats.org/officeDocument/2006/relationships" id="261" r:id="R30a3184cc51d4679"/>
    <p:sldId xmlns:r="http://schemas.openxmlformats.org/officeDocument/2006/relationships" id="262" r:id="R4450fe9f4b024781"/>
    <p:sldId xmlns:r="http://schemas.openxmlformats.org/officeDocument/2006/relationships" id="263" r:id="R29acd122dabc49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c2500ded82458d" /><Relationship Type="http://schemas.openxmlformats.org/officeDocument/2006/relationships/slideMaster" Target="/ppt/slideMasters/slideMaster1.xml" Id="R3eb4c8735d37414d" /><Relationship Type="http://schemas.openxmlformats.org/officeDocument/2006/relationships/notesMaster" Target="/ppt/notesMasters/notesMaster1.xml" Id="R20fd6c02d7874e41" /><Relationship Type="http://schemas.openxmlformats.org/officeDocument/2006/relationships/presProps" Target="/ppt/presProps.xml" Id="Rc5affb182ac14095" /><Relationship Type="http://schemas.openxmlformats.org/officeDocument/2006/relationships/tableStyles" Target="/ppt/tableStyles.xml" Id="Ra7f253145d8a4b3c" /><Relationship Type="http://schemas.openxmlformats.org/officeDocument/2006/relationships/slide" Target="/ppt/slides/slide1.xml" Id="Rd56cf61c863d40d0" /><Relationship Type="http://schemas.openxmlformats.org/officeDocument/2006/relationships/slide" Target="/ppt/slides/slide2.xml" Id="Rff49bd3ae38d439e" /><Relationship Type="http://schemas.openxmlformats.org/officeDocument/2006/relationships/slide" Target="/ppt/slides/slide3.xml" Id="R206ca7254dfa4acd" /><Relationship Type="http://schemas.openxmlformats.org/officeDocument/2006/relationships/slide" Target="/ppt/slides/slide4.xml" Id="R6323a1015f774227" /><Relationship Type="http://schemas.openxmlformats.org/officeDocument/2006/relationships/slide" Target="/ppt/slides/slide5.xml" Id="R182243f0aa9640ee" /><Relationship Type="http://schemas.openxmlformats.org/officeDocument/2006/relationships/slide" Target="/ppt/slides/slide6.xml" Id="R30a3184cc51d4679" /><Relationship Type="http://schemas.openxmlformats.org/officeDocument/2006/relationships/slide" Target="/ppt/slides/slide7.xml" Id="R4450fe9f4b024781" /><Relationship Type="http://schemas.openxmlformats.org/officeDocument/2006/relationships/slide" Target="/ppt/slides/slide8.xml" Id="R29acd122dabc49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3a959ae5fe4e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9e27c99f7a4a7f" /><Relationship Type="http://schemas.openxmlformats.org/officeDocument/2006/relationships/notesMaster" Target="/ppt/notesMasters/notesMaster1.xml" Id="R4c198d1f4e0540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8c62204b2b428b" /><Relationship Type="http://schemas.openxmlformats.org/officeDocument/2006/relationships/notesMaster" Target="/ppt/notesMasters/notesMaster1.xml" Id="R03e64c50f7b34a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a0852a75f649ec" /><Relationship Type="http://schemas.openxmlformats.org/officeDocument/2006/relationships/notesMaster" Target="/ppt/notesMasters/notesMaster1.xml" Id="R6e5a2e1903c94b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9ea5258ba44fc9" /><Relationship Type="http://schemas.openxmlformats.org/officeDocument/2006/relationships/notesMaster" Target="/ppt/notesMasters/notesMaster1.xml" Id="R60f2160bf69f48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25aa52a7e84bb2" /><Relationship Type="http://schemas.openxmlformats.org/officeDocument/2006/relationships/notesMaster" Target="/ppt/notesMasters/notesMaster1.xml" Id="R3528124d0ab449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d1604b4093400b" /><Relationship Type="http://schemas.openxmlformats.org/officeDocument/2006/relationships/notesMaster" Target="/ppt/notesMasters/notesMaster1.xml" Id="R59e99526b1084f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faf054d0ab4324" /><Relationship Type="http://schemas.openxmlformats.org/officeDocument/2006/relationships/notesMaster" Target="/ppt/notesMasters/notesMaster1.xml" Id="Rb99bb7535e5946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50ed9530b040c6" /><Relationship Type="http://schemas.openxmlformats.org/officeDocument/2006/relationships/notesMaster" Target="/ppt/notesMasters/notesMaster1.xml" Id="Rc42034bcb82044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封面背景为 AI 辅助生成的被服厂概念图，仅作艺术示意，不是历史影像或遗址复原。作品视觉聚焦被服厂劳动与抗战供给。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《针线与守望》8 幕、10 条主张均来自同一篇公开二手报道：黑龙江省文化和旅游厅转载《黑龙江日报》，2025-08-19。来源页：https://wlt.hlj.gov.cn/wlt/c114274/202508/c00_31866464.shtml 。本页是叙事概述，不构成独立史料互证。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数据来自 data/curated/events.json、data/curated/story_claims.json 及生成的 web/structures.js、web/cases.js、web/story.js。事件数、机构数、遗址数均按当前数据字段统计；机构数量不代表来源独立性。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事件 evt_1934_tongzhangrong_xisheng 的日期来源见 data/curated/events.json；两条来源记 1934-03-21，一条来源记 1934-04-21。卷宗以本库当前收录记录呈现分歧，不据数量裁定历史事实。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截至本轮构建，verify_quotes.py 报告 144 条来源记录，其中 35 条具有可读本地快照并通过核验，66 条仅有 URL，43 条无 URL 或本地快照。验证内容包括摘要、提取文本与引文片段；不得将未纳入的来源描述为已通过核验。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第六幕已转移人员与可搬运物资退出画面，留守者不作具象重建；第七幕人物及可搬运物资离场，缝纫机、茶壶、灯台等固定陈设保留。状态由 story_claims.json 的 scene 字段驱动；历史结局来自同一篇黑龙江日报转载报道，不是实景复原。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余烬模式和 WebXR/移动交互能力边界见 docs/作品说明.html 与 docs/AI使用说明.md。截图由 Chromium headless 与 SwiftShader 软件渲染，手机截图使用 390×844 软件视口；没有用实体头显或真实手机完成兼容性、帧率或用户体验验证。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研究边界与未完成验证状态见 docs/AI使用说明.md、docs/作品说明.html 和 docs/用户试用记录.md。66 条事件均无 A 类一手档案；主故事 10 条主张均来自同一篇二手报道；当前没有真实观众试用、实体头显或真实手机性能验收记录。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c5d34b05ff46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e221de572a4e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7f7bfe414b48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e0fc5c12740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d3fc58bc5148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b422141cb49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388EE1-DB56-4780-A300-F2A841015C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5A3BB8-2108-4212-BAB2-446FCE2BE4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317737E-4500-4437-9180-4D274F2770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87D873-AC1A-4C62-AD90-2BE5724C4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26E6A56-739E-4C37-99BE-A41E4B4AEA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A30A7A-1549-47A3-9F2B-340CDD9C22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6179AD-0716-48F5-A630-1A1AB90304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912D17-3EE9-49AD-B61B-28C6E62CCE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E50A60-8670-416F-AAC0-11DF21DE87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0C0AAB-371D-4394-8035-C358623A2A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6ec2c0dd0b43da" /><Relationship Type="http://schemas.openxmlformats.org/officeDocument/2006/relationships/slideLayout" Target="/ppt/slideLayouts/slideLayout1.xml" Id="Red6b2b13741f45f7" /><Relationship Type="http://schemas.openxmlformats.org/officeDocument/2006/relationships/slideLayout" Target="/ppt/slideLayouts/slideLayout2.xml" Id="R3d908e302508451f" /><Relationship Type="http://schemas.openxmlformats.org/officeDocument/2006/relationships/slideLayout" Target="/ppt/slideLayouts/slideLayout3.xml" Id="Rd19b34ed7e3240c6" /><Relationship Type="http://schemas.openxmlformats.org/officeDocument/2006/relationships/slideLayout" Target="/ppt/slideLayouts/slideLayout4.xml" Id="R9442c6f9242b43d5" /><Relationship Type="http://schemas.openxmlformats.org/officeDocument/2006/relationships/slideLayout" Target="/ppt/slideLayouts/slideLayout5.xml" Id="R514e5c556bce4ea1" /><Relationship Type="http://schemas.openxmlformats.org/officeDocument/2006/relationships/slideLayout" Target="/ppt/slideLayouts/slideLayout6.xml" Id="R6746fab55fb74f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6b2b13741f45f7"/>
    <p:sldLayoutId xmlns:r="http://schemas.openxmlformats.org/officeDocument/2006/relationships" id="2147483650" r:id="R3d908e302508451f"/>
    <p:sldLayoutId xmlns:r="http://schemas.openxmlformats.org/officeDocument/2006/relationships" id="2147483651" r:id="Rd19b34ed7e3240c6"/>
    <p:sldLayoutId xmlns:r="http://schemas.openxmlformats.org/officeDocument/2006/relationships" id="2147483652" r:id="R9442c6f9242b43d5"/>
    <p:sldLayoutId xmlns:r="http://schemas.openxmlformats.org/officeDocument/2006/relationships" id="2147483653" r:id="R514e5c556bce4ea1"/>
    <p:sldLayoutId xmlns:r="http://schemas.openxmlformats.org/officeDocument/2006/relationships" id="2147483654" r:id="R6746fab55fb74f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96b86472664a31" /><Relationship Type="http://schemas.openxmlformats.org/officeDocument/2006/relationships/image" Target="/ppt/media/image.png" Id="Red456455c4d849a0" /><Relationship Type="http://schemas.openxmlformats.org/officeDocument/2006/relationships/notesSlide" Target="/ppt/notesSlides/notesSlide1.xml" Id="Rba5845ace7e741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67269a8a214dfd" /><Relationship Type="http://schemas.openxmlformats.org/officeDocument/2006/relationships/image" Target="/ppt/media/image2.png" Id="R7af0cf80f3e64706" /><Relationship Type="http://schemas.openxmlformats.org/officeDocument/2006/relationships/notesSlide" Target="/ppt/notesSlides/notesSlide2.xml" Id="Rd55c0c5597a24b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96c40930634942" /><Relationship Type="http://schemas.openxmlformats.org/officeDocument/2006/relationships/image" Target="/ppt/media/image3.png" Id="Rfe321e98abd0493e" /><Relationship Type="http://schemas.openxmlformats.org/officeDocument/2006/relationships/notesSlide" Target="/ppt/notesSlides/notesSlide3.xml" Id="R37133d8c08ce48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70db0347244641" /><Relationship Type="http://schemas.openxmlformats.org/officeDocument/2006/relationships/image" Target="/ppt/media/image4.png" Id="R2e64a9506ee84393" /><Relationship Type="http://schemas.openxmlformats.org/officeDocument/2006/relationships/notesSlide" Target="/ppt/notesSlides/notesSlide4.xml" Id="R4c5f5eb556ca49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68693267974396" /><Relationship Type="http://schemas.openxmlformats.org/officeDocument/2006/relationships/chart" Target="/ppt/slides/charts/chart1.xml" Id="Rf64ba764855b438f" /><Relationship Type="http://schemas.openxmlformats.org/officeDocument/2006/relationships/notesSlide" Target="/ppt/notesSlides/notesSlide5.xml" Id="R93cfa1f707974d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456e3390a24a1f" /><Relationship Type="http://schemas.openxmlformats.org/officeDocument/2006/relationships/image" Target="/ppt/media/image5.png" Id="R16e2757d0746466e" /><Relationship Type="http://schemas.openxmlformats.org/officeDocument/2006/relationships/notesSlide" Target="/ppt/notesSlides/notesSlide6.xml" Id="R89208230c5c245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1983ac012418c" /><Relationship Type="http://schemas.openxmlformats.org/officeDocument/2006/relationships/image" Target="/ppt/media/image6.png" Id="R6d39eb15672e4e0d" /><Relationship Type="http://schemas.openxmlformats.org/officeDocument/2006/relationships/image" Target="/ppt/media/image7.png" Id="Rcd54798de7dd46ea" /><Relationship Type="http://schemas.openxmlformats.org/officeDocument/2006/relationships/image" Target="/ppt/media/image8.png" Id="Rde3d66be29de40bb" /><Relationship Type="http://schemas.openxmlformats.org/officeDocument/2006/relationships/notesSlide" Target="/ppt/notesSlides/notesSlide7.xml" Id="R41f1a76c9ce04b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513665d3d84eda" /><Relationship Type="http://schemas.openxmlformats.org/officeDocument/2006/relationships/notesSlide" Target="/ppt/notesSlides/notesSlide8.xml" Id="Re2faf6e8905a479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来源记录</c:v>
          </c:tx>
          <c:spPr>
            <a:solidFill xmlns:a="http://schemas.openxmlformats.org/drawingml/2006/main">
              <a:srgbClr val="D8A46D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有可读快照并核验</c:v>
                </c:pt>
                <c:pt idx="1">
                  <c:v>仅有来源网址</c:v>
                </c:pt>
                <c:pt idx="2">
                  <c:v>无网址或本地快照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35</c:v>
                </c:pt>
                <c:pt idx="1">
                  <c:v>66</c:v>
                </c:pt>
                <c:pt idx="2">
                  <c:v>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F1E7D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4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9F691-782A-49F5-AEE7-C8B1B45173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56455c4d849a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rack">
            <a:extLst xmlns:a="http://schemas.openxmlformats.org/drawingml/2006/main">
              <a:ext uri="{FF2B5EF4-FFF2-40B4-BE49-F238E27FC236}">
                <a16:creationId xmlns:a16="http://schemas.microsoft.com/office/drawing/2014/main" id="{FA8465A8-284F-4261-A8EA-258A1966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382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红色之旅  ·  追梦铸魂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AB2155D-120C-4CA4-B4F6-595250F9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5810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7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7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7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7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7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7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7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7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7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57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密营 · 燎原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E34F613-FA02-4232-BB67-68AB73C8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一座被服厂，如何把劳动连到前线</a:t>
            </a:r>
          </a:p>
        </p:txBody>
      </p:sp>
      <p:sp>
        <p:nvSpPr>
          <p:cNvPr id="5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21217AA2-7F36-41B6-9472-3FA8FE4F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以史料为线索的抗战纪念展演</a:t>
            </a:r>
          </a:p>
        </p:txBody>
      </p:sp>
      <p:sp>
        <p:nvSpPr>
          <p:cNvPr id="6" name="cover-disclosure">
            <a:extLst xmlns:a="http://schemas.openxmlformats.org/drawingml/2006/main">
              <a:ext uri="{FF2B5EF4-FFF2-40B4-BE49-F238E27FC236}">
                <a16:creationId xmlns:a16="http://schemas.microsoft.com/office/drawing/2014/main" id="{C9A1458F-596B-4D24-8FB8-8B2197F8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341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D8D0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D8D0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D8D0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D8D0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D8D0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D8D0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D8D0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D8D0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D8D0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D8D0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D8D0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8D0C2"/>
                </a:solidFill>
                <a:latin typeface="Microsoft YaHei"/>
                <a:ea typeface="Microsoft YaHei"/>
                <a:cs typeface="Microsoft YaHei"/>
              </a:rPr>
              <a:t>AI 辅助创作 · 艺术示意 · 非史料影像</a:t>
            </a:r>
          </a:p>
        </p:txBody>
      </p:sp>
    </p:spTree>
    <p:extLst>
      <p:ext uri="{BB962C8B-B14F-4D97-AF65-F5344CB8AC3E}">
        <p14:creationId xmlns:p14="http://schemas.microsoft.com/office/powerpoint/2010/main" val="562336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4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2">
            <a:extLst xmlns:a="http://schemas.openxmlformats.org/drawingml/2006/main">
              <a:ext uri="{FF2B5EF4-FFF2-40B4-BE49-F238E27FC236}">
                <a16:creationId xmlns:a16="http://schemas.microsoft.com/office/drawing/2014/main" id="{9AB92256-E305-4330-BE47-C13426C1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故事入口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B024D6B-D97D-4259-B3E9-213E2406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一针一线，支撑前线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6A9F69EA-1D9B-46D0-9B4C-E821459B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先从被服厂的供给劳动进入抗战史。</a:t>
            </a:r>
          </a:p>
        </p:txBody>
      </p:sp>
      <p:sp>
        <p:nvSpPr>
          <p:cNvPr id="4" name="story-lead">
            <a:extLst xmlns:a="http://schemas.openxmlformats.org/drawingml/2006/main">
              <a:ext uri="{FF2B5EF4-FFF2-40B4-BE49-F238E27FC236}">
                <a16:creationId xmlns:a16="http://schemas.microsoft.com/office/drawing/2014/main" id="{E3AB0E4D-E030-4B50-8486-A4E4924A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899"/>
          </a:bodyPr>
          <a:lstStyle xmlns:a="http://schemas.openxmlformats.org/drawingml/2006/main">
            <a:defPPr algn="l"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密林深处，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一处供给基地。</a:t>
            </a:r>
          </a:p>
        </p:txBody>
      </p:sp>
      <p:sp>
        <p:nvSpPr>
          <p:cNvPr id="5" name="story-body">
            <a:extLst xmlns:a="http://schemas.openxmlformats.org/drawingml/2006/main">
              <a:ext uri="{FF2B5EF4-FFF2-40B4-BE49-F238E27FC236}">
                <a16:creationId xmlns:a16="http://schemas.microsoft.com/office/drawing/2014/main" id="{31BC475C-4234-4575-9599-97D80035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缝制、染布、组织生产与转移，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让观众看见后方劳动怎样接上前线。</a:t>
            </a:r>
          </a:p>
        </p:txBody>
      </p:sp>
      <p:sp>
        <p:nvSpPr>
          <p:cNvPr id="6" name="story-interpretation">
            <a:extLst xmlns:a="http://schemas.openxmlformats.org/drawingml/2006/main">
              <a:ext uri="{FF2B5EF4-FFF2-40B4-BE49-F238E27FC236}">
                <a16:creationId xmlns:a16="http://schemas.microsoft.com/office/drawing/2014/main" id="{CC8E2B77-9FD9-41F6-B2ED-EC83788E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叙事从日常劳动开始，落到抗战供给。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0966C-B26C-405B-8381-CDB4BBCE95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0cf80f3e64706"/>
          <a:srcRect xmlns:a="http://schemas.openxmlformats.org/drawingml/2006/main" l="0" t="16" r="0" b="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2114550"/>
            <a:ext cx="6572250" cy="3695700"/>
          </a:xfrm>
          <a:prstGeom xmlns:a="http://schemas.openxmlformats.org/drawingml/2006/main" prst="rect">
            <a:avLst/>
          </a:prstGeom>
        </p:spPr>
      </p:pic>
      <p:sp>
        <p:nvSpPr>
          <p:cNvPr id="8" name="story-source">
            <a:extLst xmlns:a="http://schemas.openxmlformats.org/drawingml/2006/main">
              <a:ext uri="{FF2B5EF4-FFF2-40B4-BE49-F238E27FC236}">
                <a16:creationId xmlns:a16="http://schemas.microsoft.com/office/drawing/2014/main" id="{60BB748E-AA7F-4AB4-A9C5-9D6EC2C9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0550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rPr>
              <a:t>来源：黑龙江省文旅厅转载《黑龙江日报》（2025-08-19）；公开二手报道。</a:t>
            </a:r>
          </a:p>
        </p:txBody>
      </p:sp>
    </p:spTree>
    <p:extLst>
      <p:ext uri="{BB962C8B-B14F-4D97-AF65-F5344CB8AC3E}">
        <p14:creationId xmlns:p14="http://schemas.microsoft.com/office/powerpoint/2010/main" val="8223416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4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3">
            <a:extLst xmlns:a="http://schemas.openxmlformats.org/drawingml/2006/main">
              <a:ext uri="{FF2B5EF4-FFF2-40B4-BE49-F238E27FC236}">
                <a16:creationId xmlns:a16="http://schemas.microsoft.com/office/drawing/2014/main" id="{ADA66A83-21C3-4835-A493-E562387A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证据结构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7CFEC65-BC42-428F-A34C-6A150073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从一条记载，走到可复核的展示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3DAB3-57B5-4D49-A90A-E1D65C383A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21e98abd0493e"/>
          <a:srcRect xmlns:a="http://schemas.openxmlformats.org/drawingml/2006/main" l="113" t="0" r="1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66900"/>
            <a:ext cx="6048375" cy="3409950"/>
          </a:xfrm>
          <a:prstGeom xmlns:a="http://schemas.openxmlformats.org/drawingml/2006/main" prst="rect">
            <a:avLst/>
          </a:prstGeom>
        </p:spPr>
      </p:pic>
      <p:sp>
        <p:nvSpPr>
          <p:cNvPr id="4" name="chain-label">
            <a:extLst xmlns:a="http://schemas.openxmlformats.org/drawingml/2006/main">
              <a:ext uri="{FF2B5EF4-FFF2-40B4-BE49-F238E27FC236}">
                <a16:creationId xmlns:a16="http://schemas.microsoft.com/office/drawing/2014/main" id="{70DC8151-FD77-4800-87E2-FA21AC17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431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数据链</a:t>
            </a:r>
          </a:p>
        </p:txBody>
      </p:sp>
      <p:sp>
        <p:nvSpPr>
          <p:cNvPr id="5" name="chain">
            <a:extLst xmlns:a="http://schemas.openxmlformats.org/drawingml/2006/main">
              <a:ext uri="{FF2B5EF4-FFF2-40B4-BE49-F238E27FC236}">
                <a16:creationId xmlns:a16="http://schemas.microsoft.com/office/drawing/2014/main" id="{13E10C39-D57F-476F-94B1-396193E4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24100"/>
            <a:ext cx="4191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文档  →  原文片段  →  原子主张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→  故事 / 卷宗 / 图形</a:t>
            </a:r>
          </a:p>
        </p:txBody>
      </p:sp>
      <p:sp>
        <p:nvSpPr>
          <p:cNvPr id="6" name="metric-66">
            <a:extLst xmlns:a="http://schemas.openxmlformats.org/drawingml/2006/main">
              <a:ext uri="{FF2B5EF4-FFF2-40B4-BE49-F238E27FC236}">
                <a16:creationId xmlns:a16="http://schemas.microsoft.com/office/drawing/2014/main" id="{FC7378AA-C554-4A9C-8F63-641182E6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671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28"/>
          </a:bodyPr>
          <a:lstStyle xmlns:a="http://schemas.openxmlformats.org/drawingml/2006/main">
            <a:def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66</a:t>
            </a:r>
          </a:p>
        </p:txBody>
      </p:sp>
      <p:sp>
        <p:nvSpPr>
          <p:cNvPr id="7" name="metric-66-label">
            <a:extLst xmlns:a="http://schemas.openxmlformats.org/drawingml/2006/main">
              <a:ext uri="{FF2B5EF4-FFF2-40B4-BE49-F238E27FC236}">
                <a16:creationId xmlns:a16="http://schemas.microsoft.com/office/drawing/2014/main" id="{6B19D27B-8F36-4CD3-9E2B-1D90999A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672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事件记载</a:t>
            </a:r>
          </a:p>
        </p:txBody>
      </p:sp>
      <p:sp>
        <p:nvSpPr>
          <p:cNvPr id="8" name="metric-33">
            <a:extLst xmlns:a="http://schemas.openxmlformats.org/drawingml/2006/main">
              <a:ext uri="{FF2B5EF4-FFF2-40B4-BE49-F238E27FC236}">
                <a16:creationId xmlns:a16="http://schemas.microsoft.com/office/drawing/2014/main" id="{5342940E-C894-4DCA-9E19-3AD24340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671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28"/>
          </a:bodyPr>
          <a:lstStyle xmlns:a="http://schemas.openxmlformats.org/drawingml/2006/main">
            <a:def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9" name="metric-33-label">
            <a:extLst xmlns:a="http://schemas.openxmlformats.org/drawingml/2006/main">
              <a:ext uri="{FF2B5EF4-FFF2-40B4-BE49-F238E27FC236}">
                <a16:creationId xmlns:a16="http://schemas.microsoft.com/office/drawing/2014/main" id="{B1914834-94D6-42BC-A861-F8F60AF4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672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来源机构</a:t>
            </a:r>
          </a:p>
        </p:txBody>
      </p:sp>
      <p:sp>
        <p:nvSpPr>
          <p:cNvPr id="10" name="metric-34">
            <a:extLst xmlns:a="http://schemas.openxmlformats.org/drawingml/2006/main">
              <a:ext uri="{FF2B5EF4-FFF2-40B4-BE49-F238E27FC236}">
                <a16:creationId xmlns:a16="http://schemas.microsoft.com/office/drawing/2014/main" id="{5A28C056-4130-477F-B272-67976949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671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28"/>
          </a:bodyPr>
          <a:lstStyle xmlns:a="http://schemas.openxmlformats.org/drawingml/2006/main">
            <a:def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11" name="metric-34-label">
            <a:extLst xmlns:a="http://schemas.openxmlformats.org/drawingml/2006/main">
              <a:ext uri="{FF2B5EF4-FFF2-40B4-BE49-F238E27FC236}">
                <a16:creationId xmlns:a16="http://schemas.microsoft.com/office/drawing/2014/main" id="{D8F1D59D-0DC4-458A-BD28-3C622B88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2672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遗址坐标</a:t>
            </a:r>
          </a:p>
        </p:txBody>
      </p:sp>
      <p:sp>
        <p:nvSpPr>
          <p:cNvPr id="12" name="independence-note">
            <a:extLst xmlns:a="http://schemas.openxmlformats.org/drawingml/2006/main">
              <a:ext uri="{FF2B5EF4-FFF2-40B4-BE49-F238E27FC236}">
                <a16:creationId xmlns:a16="http://schemas.microsoft.com/office/drawing/2014/main" id="{E6D9B232-FFBA-46D0-AD8E-AF994CCA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530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机构数量表示收录覆盖，不等于独立史源数量。</a:t>
            </a:r>
          </a:p>
        </p:txBody>
      </p:sp>
    </p:spTree>
    <p:extLst>
      <p:ext uri="{BB962C8B-B14F-4D97-AF65-F5344CB8AC3E}">
        <p14:creationId xmlns:p14="http://schemas.microsoft.com/office/powerpoint/2010/main" val="4299888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4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4">
            <a:extLst xmlns:a="http://schemas.openxmlformats.org/drawingml/2006/main">
              <a:ext uri="{FF2B5EF4-FFF2-40B4-BE49-F238E27FC236}">
                <a16:creationId xmlns:a16="http://schemas.microsoft.com/office/drawing/2014/main" id="{8E2F5671-1F07-467C-B41E-44632951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灯下案 · KL-012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7193C0C-C99C-4CA9-B91B-A0AAC6A1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童长荣牺牲日期：分歧留在台面上</a:t>
            </a:r>
          </a:p>
        </p:txBody>
      </p:sp>
      <p:sp>
        <p:nvSpPr>
          <p:cNvPr id="3" name="date-a">
            <a:extLst xmlns:a="http://schemas.openxmlformats.org/drawingml/2006/main">
              <a:ext uri="{FF2B5EF4-FFF2-40B4-BE49-F238E27FC236}">
                <a16:creationId xmlns:a16="http://schemas.microsoft.com/office/drawing/2014/main" id="{650F9C01-659B-4C9B-B91B-04CD8095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1934 年 3 月 21 日</a:t>
            </a:r>
          </a:p>
        </p:txBody>
      </p:sp>
      <p:sp>
        <p:nvSpPr>
          <p:cNvPr id="4" name="date-a-count">
            <a:extLst xmlns:a="http://schemas.openxmlformats.org/drawingml/2006/main">
              <a:ext uri="{FF2B5EF4-FFF2-40B4-BE49-F238E27FC236}">
                <a16:creationId xmlns:a16="http://schemas.microsoft.com/office/drawing/2014/main" id="{3E7ACDEE-257E-44FD-974C-1C8AF07F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2 家来源记载</a:t>
            </a:r>
          </a:p>
        </p:txBody>
      </p:sp>
      <p:sp>
        <p:nvSpPr>
          <p:cNvPr id="5" name="date-b">
            <a:extLst xmlns:a="http://schemas.openxmlformats.org/drawingml/2006/main">
              <a:ext uri="{FF2B5EF4-FFF2-40B4-BE49-F238E27FC236}">
                <a16:creationId xmlns:a16="http://schemas.microsoft.com/office/drawing/2014/main" id="{87673E42-9407-4680-AFEF-63BCCB4B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rPr>
              <a:t>1934 年 4 月 21 日</a:t>
            </a:r>
          </a:p>
        </p:txBody>
      </p:sp>
      <p:sp>
        <p:nvSpPr>
          <p:cNvPr id="6" name="date-b-count">
            <a:extLst xmlns:a="http://schemas.openxmlformats.org/drawingml/2006/main">
              <a:ext uri="{FF2B5EF4-FFF2-40B4-BE49-F238E27FC236}">
                <a16:creationId xmlns:a16="http://schemas.microsoft.com/office/drawing/2014/main" id="{9C7AF456-0ADE-450F-97E2-3BCBD234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1 家来源记载</a:t>
            </a:r>
          </a:p>
        </p:txBody>
      </p:sp>
      <p:sp>
        <p:nvSpPr>
          <p:cNvPr id="7" name="date-verdict">
            <a:extLst xmlns:a="http://schemas.openxmlformats.org/drawingml/2006/main">
              <a:ext uri="{FF2B5EF4-FFF2-40B4-BE49-F238E27FC236}">
                <a16:creationId xmlns:a16="http://schemas.microsoft.com/office/drawing/2014/main" id="{54096B68-150B-4FAF-891B-602B2815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系统保留 2 : 1 的记载结构，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不以多数投票代替史料判断。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57A06-1B09-4E4B-A285-8B9570FE00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4a9506ee84393"/>
          <a:srcRect xmlns:a="http://schemas.openxmlformats.org/drawingml/2006/main" l="0" t="16" r="0" b="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2057400"/>
            <a:ext cx="6572250" cy="3695700"/>
          </a:xfrm>
          <a:prstGeom xmlns:a="http://schemas.openxmlformats.org/drawingml/2006/main" prst="rect">
            <a:avLst/>
          </a:prstGeom>
        </p:spPr>
      </p:pic>
      <p:sp>
        <p:nvSpPr>
          <p:cNvPr id="9" name="date-source">
            <a:extLst xmlns:a="http://schemas.openxmlformats.org/drawingml/2006/main">
              <a:ext uri="{FF2B5EF4-FFF2-40B4-BE49-F238E27FC236}">
                <a16:creationId xmlns:a16="http://schemas.microsoft.com/office/drawing/2014/main" id="{5A52524A-8CB8-4E93-8B57-78215227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17C72"/>
                </a:solidFill>
                <a:latin typeface="Microsoft YaHei"/>
                <a:ea typeface="Microsoft YaHei"/>
                <a:cs typeface="Microsoft YaHei"/>
              </a:rPr>
              <a:t>证据状态：库内存在日期分歧，未作历史定谳。</a:t>
            </a:r>
          </a:p>
        </p:txBody>
      </p:sp>
    </p:spTree>
    <p:extLst>
      <p:ext uri="{BB962C8B-B14F-4D97-AF65-F5344CB8AC3E}">
        <p14:creationId xmlns:p14="http://schemas.microsoft.com/office/powerpoint/2010/main" val="857840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4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5">
            <a:extLst xmlns:a="http://schemas.openxmlformats.org/drawingml/2006/main">
              <a:ext uri="{FF2B5EF4-FFF2-40B4-BE49-F238E27FC236}">
                <a16:creationId xmlns:a16="http://schemas.microsoft.com/office/drawing/2014/main" id="{795DEC06-10E4-4603-9AEC-42F1CB2A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来源核验覆盖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0EDA8D29-7E24-4A9C-92C3-9492CA89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可核到多少，就报告多少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CBD8E3B2-DA22-430C-9664-D38F8FC5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144 条来源记录的覆盖分布；未核查的记录不算作通过。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CAB9F8D-CA9F-49DC-979D-BAE2E5A70E59}"/>
              </a:ext>
            </a:extLst>
          </p:cNvPr>
          <p:cNvGraphicFramePr/>
          <p:nvPr/>
        </p:nvGraphicFramePr>
        <p:xfrm>
          <a:off xmlns:a="http://schemas.openxmlformats.org/drawingml/2006/main" x="2152650" y="2209800"/>
          <a:ext xmlns:a="http://schemas.openxmlformats.org/drawingml/2006/main" cx="4267200" cy="3276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4ba764855b438f"/>
          </a:graphicData>
        </a:graphic>
      </p:graphicFrame>
      <p:sp>
        <p:nvSpPr>
          <p:cNvPr id="5" name="coverage-chart-label-43">
            <a:extLst xmlns:a="http://schemas.openxmlformats.org/drawingml/2006/main">
              <a:ext uri="{FF2B5EF4-FFF2-40B4-BE49-F238E27FC236}">
                <a16:creationId xmlns:a16="http://schemas.microsoft.com/office/drawing/2014/main" id="{B563BB58-183C-47CE-A731-A10FCEF7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无网址 / 无快照</a:t>
            </a:r>
          </a:p>
        </p:txBody>
      </p:sp>
      <p:sp>
        <p:nvSpPr>
          <p:cNvPr id="6" name="coverage-chart-label-66">
            <a:extLst xmlns:a="http://schemas.openxmlformats.org/drawingml/2006/main">
              <a:ext uri="{FF2B5EF4-FFF2-40B4-BE49-F238E27FC236}">
                <a16:creationId xmlns:a16="http://schemas.microsoft.com/office/drawing/2014/main" id="{98EC6DE9-8015-47E2-A99C-18F60066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仅有网址</a:t>
            </a:r>
          </a:p>
        </p:txBody>
      </p:sp>
      <p:sp>
        <p:nvSpPr>
          <p:cNvPr id="7" name="coverage-chart-label-35">
            <a:extLst xmlns:a="http://schemas.openxmlformats.org/drawingml/2006/main">
              <a:ext uri="{FF2B5EF4-FFF2-40B4-BE49-F238E27FC236}">
                <a16:creationId xmlns:a16="http://schemas.microsoft.com/office/drawing/2014/main" id="{DD2316D4-49F1-4E32-8A69-9AAB7759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快照核验通过</a:t>
            </a:r>
          </a:p>
        </p:txBody>
      </p:sp>
      <p:sp>
        <p:nvSpPr>
          <p:cNvPr id="8" name="coverage-35">
            <a:extLst xmlns:a="http://schemas.openxmlformats.org/drawingml/2006/main">
              <a:ext uri="{FF2B5EF4-FFF2-40B4-BE49-F238E27FC236}">
                <a16:creationId xmlns:a16="http://schemas.microsoft.com/office/drawing/2014/main" id="{421CE1F8-056D-459D-8A25-015A894C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526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35 / 35</a:t>
            </a:r>
          </a:p>
        </p:txBody>
      </p:sp>
      <p:sp>
        <p:nvSpPr>
          <p:cNvPr id="9" name="coverage-35-label">
            <a:extLst xmlns:a="http://schemas.openxmlformats.org/drawingml/2006/main">
              <a:ext uri="{FF2B5EF4-FFF2-40B4-BE49-F238E27FC236}">
                <a16:creationId xmlns:a16="http://schemas.microsoft.com/office/drawing/2014/main" id="{C9AAC18E-B42E-4DFB-B6BB-3199CA80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241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可读本地快照来源全部通过本轮核验</a:t>
            </a:r>
          </a:p>
        </p:txBody>
      </p:sp>
      <p:sp>
        <p:nvSpPr>
          <p:cNvPr id="10" name="coverage-url">
            <a:extLst xmlns:a="http://schemas.openxmlformats.org/drawingml/2006/main">
              <a:ext uri="{FF2B5EF4-FFF2-40B4-BE49-F238E27FC236}">
                <a16:creationId xmlns:a16="http://schemas.microsoft.com/office/drawing/2014/main" id="{03B521E3-4D35-4BDA-84C3-0C3E8B58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242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66 条</a:t>
            </a:r>
          </a:p>
        </p:txBody>
      </p:sp>
      <p:sp>
        <p:nvSpPr>
          <p:cNvPr id="11" name="coverage-url-label">
            <a:extLst xmlns:a="http://schemas.openxmlformats.org/drawingml/2006/main">
              <a:ext uri="{FF2B5EF4-FFF2-40B4-BE49-F238E27FC236}">
                <a16:creationId xmlns:a16="http://schemas.microsoft.com/office/drawing/2014/main" id="{60762B02-054C-449E-ABA8-DE5567D3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814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仅有网址；未纳入本地快照核验</a:t>
            </a:r>
          </a:p>
        </p:txBody>
      </p:sp>
      <p:sp>
        <p:nvSpPr>
          <p:cNvPr id="12" name="coverage-none">
            <a:extLst xmlns:a="http://schemas.openxmlformats.org/drawingml/2006/main">
              <a:ext uri="{FF2B5EF4-FFF2-40B4-BE49-F238E27FC236}">
                <a16:creationId xmlns:a16="http://schemas.microsoft.com/office/drawing/2014/main" id="{E76A85CE-14C4-4381-A6A6-BBE68038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910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43 条</a:t>
            </a:r>
          </a:p>
        </p:txBody>
      </p:sp>
      <p:sp>
        <p:nvSpPr>
          <p:cNvPr id="13" name="coverage-none-label">
            <a:extLst xmlns:a="http://schemas.openxmlformats.org/drawingml/2006/main">
              <a:ext uri="{FF2B5EF4-FFF2-40B4-BE49-F238E27FC236}">
                <a16:creationId xmlns:a16="http://schemas.microsoft.com/office/drawing/2014/main" id="{DB645B3C-145F-4842-964F-5420B699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481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暂无网址与本地快照</a:t>
            </a:r>
          </a:p>
        </p:txBody>
      </p:sp>
      <p:sp>
        <p:nvSpPr>
          <p:cNvPr id="14" name="coverage-caveat">
            <a:extLst xmlns:a="http://schemas.openxmlformats.org/drawingml/2006/main">
              <a:ext uri="{FF2B5EF4-FFF2-40B4-BE49-F238E27FC236}">
                <a16:creationId xmlns:a16="http://schemas.microsoft.com/office/drawing/2014/main" id="{CF4E3E12-351F-4E65-B62C-C2FDAA1B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911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本地逐字核验覆盖 35 / 144 条来源记录；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这说明核验范围，不等于证明历史真伪。</a:t>
            </a:r>
          </a:p>
        </p:txBody>
      </p:sp>
    </p:spTree>
    <p:extLst>
      <p:ext uri="{BB962C8B-B14F-4D97-AF65-F5344CB8AC3E}">
        <p14:creationId xmlns:p14="http://schemas.microsoft.com/office/powerpoint/2010/main" val="13148364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4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6">
            <a:extLst xmlns:a="http://schemas.openxmlformats.org/drawingml/2006/main">
              <a:ext uri="{FF2B5EF4-FFF2-40B4-BE49-F238E27FC236}">
                <a16:creationId xmlns:a16="http://schemas.microsoft.com/office/drawing/2014/main" id="{4888F2BF-3FAA-4402-B1F2-0E92659A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叙事与 3D 场景状态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42205A6F-8317-4FFB-A56B-682D44C1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留下来的针脚：让画面守住边界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A8A8B-E8BF-4401-BFC4-6DCF2AB3EB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2757d0746466e"/>
          <a:srcRect xmlns:a="http://schemas.openxmlformats.org/drawingml/2006/main" l="32" t="0" r="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71675"/>
            <a:ext cx="6667500" cy="3752850"/>
          </a:xfrm>
          <a:prstGeom xmlns:a="http://schemas.openxmlformats.org/drawingml/2006/main" prst="rect">
            <a:avLst/>
          </a:prstGeom>
        </p:spPr>
      </p:pic>
      <p:sp>
        <p:nvSpPr>
          <p:cNvPr id="4" name="empty-stage-label">
            <a:extLst xmlns:a="http://schemas.openxmlformats.org/drawingml/2006/main">
              <a:ext uri="{FF2B5EF4-FFF2-40B4-BE49-F238E27FC236}">
                <a16:creationId xmlns:a16="http://schemas.microsoft.com/office/drawing/2014/main" id="{9F2C4AC1-652F-4C50-951D-35EDF56B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第七幕 · 留下来的针脚</a:t>
            </a:r>
          </a:p>
        </p:txBody>
      </p:sp>
      <p:sp>
        <p:nvSpPr>
          <p:cNvPr id="5" name="empty-stage-body">
            <a:extLst xmlns:a="http://schemas.openxmlformats.org/drawingml/2006/main">
              <a:ext uri="{FF2B5EF4-FFF2-40B4-BE49-F238E27FC236}">
                <a16:creationId xmlns:a16="http://schemas.microsoft.com/office/drawing/2014/main" id="{461F2E0F-8653-44B1-BE44-C125FFA9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28900"/>
            <a:ext cx="361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人员与可搬运物资已离场。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固定陈设仍留在工作台。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留守者的命运由来源引文与旁白交代，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场景不补造人物动作。</a:t>
            </a:r>
          </a:p>
        </p:txBody>
      </p:sp>
      <p:sp>
        <p:nvSpPr>
          <p:cNvPr id="6" name="empty-stage-meaning">
            <a:extLst xmlns:a="http://schemas.openxmlformats.org/drawingml/2006/main">
              <a:ext uri="{FF2B5EF4-FFF2-40B4-BE49-F238E27FC236}">
                <a16:creationId xmlns:a16="http://schemas.microsoft.com/office/drawing/2014/main" id="{2EBE4086-B408-424D-8215-5A7BFE91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叙事给出情感，证据决定它能说到哪里。</a:t>
            </a:r>
          </a:p>
        </p:txBody>
      </p:sp>
    </p:spTree>
    <p:extLst>
      <p:ext uri="{BB962C8B-B14F-4D97-AF65-F5344CB8AC3E}">
        <p14:creationId xmlns:p14="http://schemas.microsoft.com/office/powerpoint/2010/main" val="5036113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4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7">
            <a:extLst xmlns:a="http://schemas.openxmlformats.org/drawingml/2006/main">
              <a:ext uri="{FF2B5EF4-FFF2-40B4-BE49-F238E27FC236}">
                <a16:creationId xmlns:a16="http://schemas.microsoft.com/office/drawing/2014/main" id="{C9D97BC3-8398-47AA-B79A-84FB8C65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交互路径与设备边界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814F7A49-87AB-42A8-BD98-03D71900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可交互，不等于已完成真机验证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68FCD-54B2-4829-BF14-C633EC8829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9eb15672e4e0d"/>
          <a:srcRect xmlns:a="http://schemas.openxmlformats.org/drawingml/2006/main" l="106" t="0" r="1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9300"/>
            <a:ext cx="5981700" cy="33718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5059A-3176-4143-8E23-E41BFDD2A2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4798de7dd46ea"/>
          <a:stretch xmlns:a="http://schemas.openxmlformats.org/drawingml/2006/main"/>
        </p:blipFill>
        <p:spPr>
          <a:xfrm xmlns:a="http://schemas.openxmlformats.org/drawingml/2006/main">
            <a:off x="7240580" y="2038350"/>
            <a:ext cx="1663715" cy="36004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40A5D-D09E-4DAA-B452-FEF30032DE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d66be29de40bb"/>
          <a:stretch xmlns:a="http://schemas.openxmlformats.org/drawingml/2006/main"/>
        </p:blipFill>
        <p:spPr>
          <a:xfrm xmlns:a="http://schemas.openxmlformats.org/drawingml/2006/main">
            <a:off x="9183680" y="2038350"/>
            <a:ext cx="1663715" cy="3600450"/>
          </a:xfrm>
          <a:prstGeom xmlns:a="http://schemas.openxmlformats.org/drawingml/2006/main" prst="rect">
            <a:avLst/>
          </a:prstGeom>
        </p:spPr>
      </p:pic>
      <p:sp>
        <p:nvSpPr>
          <p:cNvPr id="6" name="device-method">
            <a:extLst xmlns:a="http://schemas.openxmlformats.org/drawingml/2006/main">
              <a:ext uri="{FF2B5EF4-FFF2-40B4-BE49-F238E27FC236}">
                <a16:creationId xmlns:a16="http://schemas.microsoft.com/office/drawing/2014/main" id="{660636D0-D970-406D-B6FD-7404DC9B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91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桌面 3D  ·  手机 2D  ·  手机 3D</a:t>
            </a:r>
          </a:p>
        </p:txBody>
      </p:sp>
      <p:sp>
        <p:nvSpPr>
          <p:cNvPr id="7" name="device-caveat">
            <a:extLst xmlns:a="http://schemas.openxmlformats.org/drawingml/2006/main">
              <a:ext uri="{FF2B5EF4-FFF2-40B4-BE49-F238E27FC236}">
                <a16:creationId xmlns:a16="http://schemas.microsoft.com/office/drawing/2014/main" id="{ECD1CBDB-8CDA-4CCF-92C6-298390C7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场景为程序化合成示意；截图由软件渲染和视口模拟生成。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尚未完成实体头显验收或真实手机性能测试。</a:t>
            </a:r>
          </a:p>
        </p:txBody>
      </p:sp>
    </p:spTree>
    <p:extLst>
      <p:ext uri="{BB962C8B-B14F-4D97-AF65-F5344CB8AC3E}">
        <p14:creationId xmlns:p14="http://schemas.microsoft.com/office/powerpoint/2010/main" val="3361399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4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limits-kicker">
            <a:extLst xmlns:a="http://schemas.openxmlformats.org/drawingml/2006/main">
              <a:ext uri="{FF2B5EF4-FFF2-40B4-BE49-F238E27FC236}">
                <a16:creationId xmlns:a16="http://schemas.microsoft.com/office/drawing/2014/main" id="{DB4A1F8B-196D-4228-887F-7A58487B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研究边界</a:t>
            </a:r>
          </a:p>
        </p:txBody>
      </p:sp>
      <p:sp>
        <p:nvSpPr>
          <p:cNvPr id="2" name="limits-title">
            <a:extLst xmlns:a="http://schemas.openxmlformats.org/drawingml/2006/main">
              <a:ext uri="{FF2B5EF4-FFF2-40B4-BE49-F238E27FC236}">
                <a16:creationId xmlns:a16="http://schemas.microsoft.com/office/drawing/2014/main" id="{784DE3DA-ACE1-43D3-B93D-DF4C6284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敬意之外，仍有待查证的空白</a:t>
            </a:r>
          </a:p>
        </p:txBody>
      </p:sp>
      <p:sp>
        <p:nvSpPr>
          <p:cNvPr id="3" name="limit-a-number">
            <a:extLst xmlns:a="http://schemas.openxmlformats.org/drawingml/2006/main">
              <a:ext uri="{FF2B5EF4-FFF2-40B4-BE49-F238E27FC236}">
                <a16:creationId xmlns:a16="http://schemas.microsoft.com/office/drawing/2014/main" id="{D5ADC705-9527-4082-8C8E-45B9E276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161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>
            <a:defPPr algn="l"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4" name="limit-a-label">
            <a:extLst xmlns:a="http://schemas.openxmlformats.org/drawingml/2006/main">
              <a:ext uri="{FF2B5EF4-FFF2-40B4-BE49-F238E27FC236}">
                <a16:creationId xmlns:a16="http://schemas.microsoft.com/office/drawing/2014/main" id="{CA27FBE4-586F-4A59-8B58-5CEF556D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A 类一手档案</a:t>
            </a:r>
          </a:p>
        </p:txBody>
      </p:sp>
      <p:sp>
        <p:nvSpPr>
          <p:cNvPr id="5" name="limit-a-note">
            <a:extLst xmlns:a="http://schemas.openxmlformats.org/drawingml/2006/main">
              <a:ext uri="{FF2B5EF4-FFF2-40B4-BE49-F238E27FC236}">
                <a16:creationId xmlns:a16="http://schemas.microsoft.com/office/drawing/2014/main" id="{DE4BD281-5704-405A-91CC-D05F5A8C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66 条事件记载均未获 A 类档案支撑</a:t>
            </a:r>
          </a:p>
        </p:txBody>
      </p:sp>
      <p:sp>
        <p:nvSpPr>
          <p:cNvPr id="6" name="limit-b-number">
            <a:extLst xmlns:a="http://schemas.openxmlformats.org/drawingml/2006/main">
              <a:ext uri="{FF2B5EF4-FFF2-40B4-BE49-F238E27FC236}">
                <a16:creationId xmlns:a16="http://schemas.microsoft.com/office/drawing/2014/main" id="{6A8344D5-44EB-4607-8E42-861FBAD1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>
            <a:defPPr algn="l">
              <a:defRPr sz="54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4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4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4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4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4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4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4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4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4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54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limit-b-label">
            <a:extLst xmlns:a="http://schemas.openxmlformats.org/drawingml/2006/main">
              <a:ext uri="{FF2B5EF4-FFF2-40B4-BE49-F238E27FC236}">
                <a16:creationId xmlns:a16="http://schemas.microsoft.com/office/drawing/2014/main" id="{1911725C-85C5-4A87-A25B-1C515E1C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67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故事主张</a:t>
            </a:r>
          </a:p>
        </p:txBody>
      </p:sp>
      <p:sp>
        <p:nvSpPr>
          <p:cNvPr id="8" name="limit-b-note">
            <a:extLst xmlns:a="http://schemas.openxmlformats.org/drawingml/2006/main">
              <a:ext uri="{FF2B5EF4-FFF2-40B4-BE49-F238E27FC236}">
                <a16:creationId xmlns:a16="http://schemas.microsoft.com/office/drawing/2014/main" id="{13AAECDE-4B51-4576-B24B-205EF7D9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671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8 幕 10 条主张来自同一篇二手报道</a:t>
            </a:r>
          </a:p>
        </p:txBody>
      </p:sp>
      <p:sp>
        <p:nvSpPr>
          <p:cNvPr id="9" name="limit-c-number">
            <a:extLst xmlns:a="http://schemas.openxmlformats.org/drawingml/2006/main">
              <a:ext uri="{FF2B5EF4-FFF2-40B4-BE49-F238E27FC236}">
                <a16:creationId xmlns:a16="http://schemas.microsoft.com/office/drawing/2014/main" id="{8AC3200F-D195-454C-A4C6-68F95BA1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71700"/>
            <a:ext cx="161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>
            <a:defPPr algn="l"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B84F4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0" name="limit-c-label">
            <a:extLst xmlns:a="http://schemas.openxmlformats.org/drawingml/2006/main">
              <a:ext uri="{FF2B5EF4-FFF2-40B4-BE49-F238E27FC236}">
                <a16:creationId xmlns:a16="http://schemas.microsoft.com/office/drawing/2014/main" id="{77DE99D9-290B-401F-8B0B-8CA5C987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670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真实用户验证</a:t>
            </a:r>
          </a:p>
        </p:txBody>
      </p:sp>
      <p:sp>
        <p:nvSpPr>
          <p:cNvPr id="11" name="limit-c-note">
            <a:extLst xmlns:a="http://schemas.openxmlformats.org/drawingml/2006/main">
              <a:ext uri="{FF2B5EF4-FFF2-40B4-BE49-F238E27FC236}">
                <a16:creationId xmlns:a16="http://schemas.microsoft.com/office/drawing/2014/main" id="{29089FC1-11DB-4ADD-A38A-0A85B543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671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7B1A6"/>
                </a:solidFill>
                <a:latin typeface="Microsoft YaHei"/>
                <a:ea typeface="Microsoft YaHei"/>
                <a:cs typeface="Microsoft YaHei"/>
              </a:rPr>
              <a:t>未取得真人试用记录与实体设备验收</a:t>
            </a:r>
          </a:p>
        </p:txBody>
      </p:sp>
      <p:sp>
        <p:nvSpPr>
          <p:cNvPr id="12" name="limits-summary">
            <a:extLst xmlns:a="http://schemas.openxmlformats.org/drawingml/2006/main">
              <a:ext uri="{FF2B5EF4-FFF2-40B4-BE49-F238E27FC236}">
                <a16:creationId xmlns:a16="http://schemas.microsoft.com/office/drawing/2014/main" id="{C464119D-168B-4293-8790-E15A4C47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21"/>
          </a:bodyPr>
          <a:lstStyle xmlns:a="http://schemas.openxmlformats.org/drawingml/2006/main">
            <a:defPPr algn="l">
              <a:defRPr sz="21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作品呈现的是库内记载如何相合、分歧与缺证，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E7D5"/>
                </a:solidFill>
                <a:latin typeface="Microsoft YaHei"/>
                <a:ea typeface="Microsoft YaHei"/>
                <a:cs typeface="Microsoft YaHei"/>
              </a:rPr>
              <a:t>不替历史作最终定谳。</a:t>
            </a:r>
          </a:p>
        </p:txBody>
      </p:sp>
      <p:sp>
        <p:nvSpPr>
          <p:cNvPr id="13" name="limits-closing">
            <a:extLst xmlns:a="http://schemas.openxmlformats.org/drawingml/2006/main">
              <a:ext uri="{FF2B5EF4-FFF2-40B4-BE49-F238E27FC236}">
                <a16:creationId xmlns:a16="http://schemas.microsoft.com/office/drawing/2014/main" id="{F8969565-5065-49C5-BEC1-E257315C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8A46D"/>
                </a:solidFill>
                <a:latin typeface="Microsoft YaHei"/>
                <a:ea typeface="Microsoft YaHei"/>
                <a:cs typeface="Microsoft YaHei"/>
              </a:rPr>
              <a:t>把故事讲清，也把根据讲清。</a:t>
            </a:r>
          </a:p>
        </p:txBody>
      </p:sp>
    </p:spTree>
    <p:extLst>
      <p:ext uri="{BB962C8B-B14F-4D97-AF65-F5344CB8AC3E}">
        <p14:creationId xmlns:p14="http://schemas.microsoft.com/office/powerpoint/2010/main" val="16855943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2026-10-19T11:03:18.5950000Z</dcterms:created>
  <dcterms:modified xsi:type="dcterms:W3CDTF">2026-10-19T11:03:18.5950000Z</dcterms:modified>
</coreProperties>
</file>